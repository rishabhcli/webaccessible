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95edd3d4274e58" /><Relationship Type="http://schemas.openxmlformats.org/officeDocument/2006/relationships/extended-properties" Target="/docProps/app.xml" Id="Rdb5a263937444575" /><Relationship Type="http://schemas.openxmlformats.org/officeDocument/2006/relationships/officeDocument" Target="/ppt/presentation.xml" Id="Raf6fc5c3181044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dc6cee183840da"/>
  </p:sldMasterIdLst>
  <p:notesMasterIdLst>
    <p:notesMasterId xmlns:r="http://schemas.openxmlformats.org/officeDocument/2006/relationships" r:id="Ra3f83160abf34f38"/>
  </p:notesMasterIdLst>
  <p:sldIdLst>
    <p:sldId xmlns:r="http://schemas.openxmlformats.org/officeDocument/2006/relationships" id="256" r:id="R2415142dced14cf8"/>
    <p:sldId xmlns:r="http://schemas.openxmlformats.org/officeDocument/2006/relationships" id="257" r:id="R823b1c12e5ec43f0"/>
    <p:sldId xmlns:r="http://schemas.openxmlformats.org/officeDocument/2006/relationships" id="258" r:id="Ref761748a5144a22"/>
    <p:sldId xmlns:r="http://schemas.openxmlformats.org/officeDocument/2006/relationships" id="259" r:id="R67f5a560ce74498e"/>
    <p:sldId xmlns:r="http://schemas.openxmlformats.org/officeDocument/2006/relationships" id="260" r:id="R4ea861668e5b49c4"/>
    <p:sldId xmlns:r="http://schemas.openxmlformats.org/officeDocument/2006/relationships" id="261" r:id="Rb1469444ae2a4ac0"/>
    <p:sldId xmlns:r="http://schemas.openxmlformats.org/officeDocument/2006/relationships" id="262" r:id="R00f7b8f7625d4dad"/>
    <p:sldId xmlns:r="http://schemas.openxmlformats.org/officeDocument/2006/relationships" id="263" r:id="R0c764c4e5ac84a5f"/>
    <p:sldId xmlns:r="http://schemas.openxmlformats.org/officeDocument/2006/relationships" id="264" r:id="R330a0ba933624abe"/>
    <p:sldId xmlns:r="http://schemas.openxmlformats.org/officeDocument/2006/relationships" id="265" r:id="R0dbf6db497054b02"/>
    <p:sldId xmlns:r="http://schemas.openxmlformats.org/officeDocument/2006/relationships" id="266" r:id="Rcf3e975f4c9d406f"/>
    <p:sldId xmlns:r="http://schemas.openxmlformats.org/officeDocument/2006/relationships" id="267" r:id="Re9a3cfd2c7f145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1798f9d60945ea" /><Relationship Type="http://schemas.openxmlformats.org/officeDocument/2006/relationships/slideMaster" Target="/ppt/slideMasters/slideMaster1.xml" Id="Rc6dc6cee183840da" /><Relationship Type="http://schemas.openxmlformats.org/officeDocument/2006/relationships/notesMaster" Target="/ppt/notesMasters/notesMaster1.xml" Id="Ra3f83160abf34f38" /><Relationship Type="http://schemas.openxmlformats.org/officeDocument/2006/relationships/presProps" Target="/ppt/presProps.xml" Id="Rda8cb0fe4394441e" /><Relationship Type="http://schemas.openxmlformats.org/officeDocument/2006/relationships/tableStyles" Target="/ppt/tableStyles.xml" Id="R82062829b07d41aa" /><Relationship Type="http://schemas.openxmlformats.org/officeDocument/2006/relationships/slide" Target="/ppt/slides/slide1.xml" Id="R2415142dced14cf8" /><Relationship Type="http://schemas.openxmlformats.org/officeDocument/2006/relationships/slide" Target="/ppt/slides/slide2.xml" Id="R823b1c12e5ec43f0" /><Relationship Type="http://schemas.openxmlformats.org/officeDocument/2006/relationships/slide" Target="/ppt/slides/slide3.xml" Id="Ref761748a5144a22" /><Relationship Type="http://schemas.openxmlformats.org/officeDocument/2006/relationships/slide" Target="/ppt/slides/slide4.xml" Id="R67f5a560ce74498e" /><Relationship Type="http://schemas.openxmlformats.org/officeDocument/2006/relationships/slide" Target="/ppt/slides/slide5.xml" Id="R4ea861668e5b49c4" /><Relationship Type="http://schemas.openxmlformats.org/officeDocument/2006/relationships/slide" Target="/ppt/slides/slide6.xml" Id="Rb1469444ae2a4ac0" /><Relationship Type="http://schemas.openxmlformats.org/officeDocument/2006/relationships/slide" Target="/ppt/slides/slide7.xml" Id="R00f7b8f7625d4dad" /><Relationship Type="http://schemas.openxmlformats.org/officeDocument/2006/relationships/slide" Target="/ppt/slides/slide8.xml" Id="R0c764c4e5ac84a5f" /><Relationship Type="http://schemas.openxmlformats.org/officeDocument/2006/relationships/slide" Target="/ppt/slides/slide9.xml" Id="R330a0ba933624abe" /><Relationship Type="http://schemas.openxmlformats.org/officeDocument/2006/relationships/slide" Target="/ppt/slides/slide10.xml" Id="R0dbf6db497054b02" /><Relationship Type="http://schemas.openxmlformats.org/officeDocument/2006/relationships/slide" Target="/ppt/slides/slide11.xml" Id="Rcf3e975f4c9d406f" /><Relationship Type="http://schemas.openxmlformats.org/officeDocument/2006/relationships/slide" Target="/ppt/slides/slide12.xml" Id="Re9a3cfd2c7f145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b494b0b12142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4f08fa5d2149d9" /><Relationship Type="http://schemas.openxmlformats.org/officeDocument/2006/relationships/notesMaster" Target="/ppt/notesMasters/notesMaster1.xml" Id="R4d84589cc6ce44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94c551d5804c47" /><Relationship Type="http://schemas.openxmlformats.org/officeDocument/2006/relationships/notesMaster" Target="/ppt/notesMasters/notesMaster1.xml" Id="R963adb76c1e044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70c2b8eab24977" /><Relationship Type="http://schemas.openxmlformats.org/officeDocument/2006/relationships/notesMaster" Target="/ppt/notesMasters/notesMaster1.xml" Id="Rb0e4932e4b0a4f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372f1c8b1b48c5" /><Relationship Type="http://schemas.openxmlformats.org/officeDocument/2006/relationships/notesMaster" Target="/ppt/notesMasters/notesMaster1.xml" Id="R870b1f775f7247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72ea802bbf4757" /><Relationship Type="http://schemas.openxmlformats.org/officeDocument/2006/relationships/notesMaster" Target="/ppt/notesMasters/notesMaster1.xml" Id="R076db5200f2a4d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974f9f3929478d" /><Relationship Type="http://schemas.openxmlformats.org/officeDocument/2006/relationships/notesMaster" Target="/ppt/notesMasters/notesMaster1.xml" Id="R0b1e71cf372b44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c5af3ae12d4fc5" /><Relationship Type="http://schemas.openxmlformats.org/officeDocument/2006/relationships/notesMaster" Target="/ppt/notesMasters/notesMaster1.xml" Id="R7b3ef0f058a448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262ede0a86427e" /><Relationship Type="http://schemas.openxmlformats.org/officeDocument/2006/relationships/notesMaster" Target="/ppt/notesMasters/notesMaster1.xml" Id="R81410e61de9946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a69f32148249e2" /><Relationship Type="http://schemas.openxmlformats.org/officeDocument/2006/relationships/notesMaster" Target="/ppt/notesMasters/notesMaster1.xml" Id="Rff54c28e245c46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a2c10d6aa44dc1" /><Relationship Type="http://schemas.openxmlformats.org/officeDocument/2006/relationships/notesMaster" Target="/ppt/notesMasters/notesMaster1.xml" Id="R406c2c1065dc4f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2ad48d1ff14be3" /><Relationship Type="http://schemas.openxmlformats.org/officeDocument/2006/relationships/notesMaster" Target="/ppt/notesMasters/notesMaster1.xml" Id="R0d28df6fecbf4b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8af447c14d4fc1" /><Relationship Type="http://schemas.openxmlformats.org/officeDocument/2006/relationships/notesMaster" Target="/ppt/notesMasters/notesMaster1.xml" Id="Rff2d8f1d3eaa49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and AGENTS.md at repository revision 64fc387.</a:t>
            </a:r>
          </a:p>
          <a:p xmlns:a="http://schemas.openxmlformats.org/drawingml/2006/main">
            <a:r>
              <a:t>- Screenshot: locally built WebAccessible landing page, http://127.0.0.1:8000/.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opening problem statement and intended user.</a:t>
            </a:r>
          </a:p>
          <a:p xmlns:a="http://schemas.openxmlformats.org/drawingml/2006/main">
            <a:r>
              <a:t>- AGENTS.md, current autonomous execution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‘What it looks like to use’ and passwordless entry.</a:t>
            </a:r>
          </a:p>
          <a:p xmlns:a="http://schemas.openxmlformats.org/drawingml/2006/main">
            <a:r>
              <a:t>- web/src/agent/TaskLauncher.tsx at repository revision 64fc387.</a:t>
            </a:r>
          </a:p>
          <a:p xmlns:a="http://schemas.openxmlformats.org/drawingml/2006/main">
            <a:r>
              <a:t>- Screenshot: locally built participant view, http://127.0.0.1:8000/participant.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participant workflow and visible action narration.</a:t>
            </a:r>
          </a:p>
          <a:p xmlns:a="http://schemas.openxmlformats.org/drawingml/2006/main">
            <a:r>
              <a:t>- AGENTS.md, execution and human-decision boundaries.</a:t>
            </a:r>
          </a:p>
          <a:p xmlns:a="http://schemas.openxmlformats.org/drawingml/2006/main">
            <a:r>
              <a:t>- web/src/agent/AgentDashboard.tsx and StepsPanel.tsx at repository revision 64fc387.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web/src/slides/SlidesView.tsx at repository revision 64fc387 plus working-tree presentation additions.</a:t>
            </a:r>
          </a:p>
          <a:p xmlns:a="http://schemas.openxmlformats.org/drawingml/2006/main">
            <a:r>
              <a:t>- Screenshot: local illustrative in-progress view, http://127.0.0.1:8000/slides/demo/dmv.</a:t>
            </a:r>
          </a:p>
          <a:p xmlns:a="http://schemas.openxmlformats.org/drawingml/2006/main">
            <a:r>
              <a:t>- This is an illustrative UI state, not live Browserbase execution evidence; local Browserbase readiness was unavailable during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web/src/slides/SlidesView.tsx at repository revision 64fc387 plus working-tree presentation additions.</a:t>
            </a:r>
          </a:p>
          <a:p xmlns:a="http://schemas.openxmlformats.org/drawingml/2006/main">
            <a:r>
              <a:t>- Screenshot: local illustrative in-progress view, http://127.0.0.1:8000/slides/demo/groceries.</a:t>
            </a:r>
          </a:p>
          <a:p xmlns:a="http://schemas.openxmlformats.org/drawingml/2006/main">
            <a:r>
              <a:t>- This is an illustrative UI state, not live Browserbase execution evidence; local Browserbase readiness was unavailable during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web/src/slides/SlidesView.tsx at repository revision 64fc387 plus working-tree presentation additions.</a:t>
            </a:r>
          </a:p>
          <a:p xmlns:a="http://schemas.openxmlformats.org/drawingml/2006/main">
            <a:r>
              <a:t>- Screenshot: local illustrative in-progress view, http://127.0.0.1:8000/slides/demo/haircut.</a:t>
            </a:r>
          </a:p>
          <a:p xmlns:a="http://schemas.openxmlformats.org/drawingml/2006/main">
            <a:r>
              <a:t>- This is an illustrative UI state, not live Browserbase execution evidence; local Browserbase readiness was unavailable during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‘What it will not do’.</a:t>
            </a:r>
          </a:p>
          <a:p xmlns:a="http://schemas.openxmlformats.org/drawingml/2006/main">
            <a:r>
              <a:t>- AGENTS.md, autonomy boundaries, password handling, and scam escalation.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caregiver view and architecture sections.</a:t>
            </a:r>
          </a:p>
          <a:p xmlns:a="http://schemas.openxmlformats.org/drawingml/2006/main">
            <a:r>
              <a:t>- web/src/caregiver/CaregiverView.tsx at repository revision 64fc387.</a:t>
            </a:r>
          </a:p>
          <a:p xmlns:a="http://schemas.openxmlformats.org/drawingml/2006/main">
            <a:r>
              <a:t>- Screenshot: locally built caregiver console, http://127.0.0.1:8000/caregiver.</a:t>
            </a:r>
          </a:p>
          <a:p xmlns:a="http://schemas.openxmlformats.org/drawingml/2006/main">
            <a:r>
              <a:t>- The screenshot truthfully shows Browserbase requiring attention while EverOS, Snowflake, and Cortex are 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‘It remembers what you did’.</a:t>
            </a:r>
          </a:p>
          <a:p xmlns:a="http://schemas.openxmlformats.org/drawingml/2006/main">
            <a:r>
              <a:t>- AGENTS.md, reminder consent, delivery, dismissal, and lapse behavior.</a:t>
            </a:r>
          </a:p>
          <a:p xmlns:a="http://schemas.openxmlformats.org/drawingml/2006/main">
            <a:r>
              <a:t>- backend/app/services/recall.py and proactive.py at repository revision 64fc387.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architecture and provider responsibility map.</a:t>
            </a:r>
          </a:p>
          <a:p xmlns:a="http://schemas.openxmlformats.org/drawingml/2006/main">
            <a:r>
              <a:t>- AGENTS.md and docs/sponsors/BROWSERBASE.md, execution-provider constraints.</a:t>
            </a:r>
          </a:p>
          <a:p xmlns:a="http://schemas.openxmlformats.org/drawingml/2006/main">
            <a:r>
              <a:t>- SPONSORS.md at repository revision 64fc387.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and AGENTS.md at repository revision 64fc387.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682b27e6642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599cd6e6f247f8" /><Relationship Type="http://schemas.openxmlformats.org/officeDocument/2006/relationships/slideLayout" Target="/ppt/slideLayouts/slideLayout1.xml" Id="Rd440df3f753c45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40df3f753c45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f17974367461f" /><Relationship Type="http://schemas.openxmlformats.org/officeDocument/2006/relationships/image" Target="/ppt/media/image.jpeg" Id="Raeae621807834934" /><Relationship Type="http://schemas.openxmlformats.org/officeDocument/2006/relationships/notesSlide" Target="/ppt/notesSlides/notesSlide1.xml" Id="Rf2c135a8f90e45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2811799e349e0" /><Relationship Type="http://schemas.openxmlformats.org/officeDocument/2006/relationships/notesSlide" Target="/ppt/notesSlides/notesSlide2.xml" Id="Rba55989d759546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3b4b838db4b75" /><Relationship Type="http://schemas.openxmlformats.org/officeDocument/2006/relationships/image" Target="/ppt/media/image2.jpeg" Id="R9ace344e9b6441b3" /><Relationship Type="http://schemas.openxmlformats.org/officeDocument/2006/relationships/notesSlide" Target="/ppt/notesSlides/notesSlide3.xml" Id="R9d45232c42444d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ef6075f974dc9" /><Relationship Type="http://schemas.openxmlformats.org/officeDocument/2006/relationships/notesSlide" Target="/ppt/notesSlides/notesSlide4.xml" Id="R62dceb0dadba49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0ce903b1a4e6c" /><Relationship Type="http://schemas.openxmlformats.org/officeDocument/2006/relationships/image" Target="/ppt/media/image3.jpeg" Id="R401a6d37a6834099" /><Relationship Type="http://schemas.openxmlformats.org/officeDocument/2006/relationships/notesSlide" Target="/ppt/notesSlides/notesSlide5.xml" Id="R685fb5f47c5944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1e9d9db294da6" /><Relationship Type="http://schemas.openxmlformats.org/officeDocument/2006/relationships/image" Target="/ppt/media/image4.jpeg" Id="R6925e5f69b8647a5" /><Relationship Type="http://schemas.openxmlformats.org/officeDocument/2006/relationships/notesSlide" Target="/ppt/notesSlides/notesSlide6.xml" Id="R1601174ace6843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7ad0fe83d4887" /><Relationship Type="http://schemas.openxmlformats.org/officeDocument/2006/relationships/image" Target="/ppt/media/image5.jpeg" Id="R6930b24ce9324c38" /><Relationship Type="http://schemas.openxmlformats.org/officeDocument/2006/relationships/notesSlide" Target="/ppt/notesSlides/notesSlide7.xml" Id="Re5837fd6a34841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b26bc558141f4" /><Relationship Type="http://schemas.openxmlformats.org/officeDocument/2006/relationships/notesSlide" Target="/ppt/notesSlides/notesSlide8.xml" Id="R9e2a8c6b593548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ab208db564e7c" /><Relationship Type="http://schemas.openxmlformats.org/officeDocument/2006/relationships/image" Target="/ppt/media/image6.jpeg" Id="R0f66d7f1247247c3" /><Relationship Type="http://schemas.openxmlformats.org/officeDocument/2006/relationships/notesSlide" Target="/ppt/notesSlides/notesSlide9.xml" Id="Rdee148abb83746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eb8f180c04fbc" /><Relationship Type="http://schemas.openxmlformats.org/officeDocument/2006/relationships/notesSlide" Target="/ppt/notesSlides/notesSlide10.xml" Id="R7ff4e6f6c03d48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b4d9f5bce482a" /><Relationship Type="http://schemas.openxmlformats.org/officeDocument/2006/relationships/notesSlide" Target="/ppt/notesSlides/notesSlide11.xml" Id="Rcfeff56d920c4c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52551a3a74a96" /><Relationship Type="http://schemas.openxmlformats.org/officeDocument/2006/relationships/notesSlide" Target="/ppt/notesSlides/notesSlide12.xml" Id="Rf909f18b81d245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7C1471C-D5A4-4E6A-966E-C74C3CBE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8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847"/>
                </a:solidFill>
                <a:latin typeface="Arial"/>
                <a:ea typeface="Arial"/>
                <a:cs typeface="Arial"/>
              </a:rPr>
              <a:t>WEBACCESSIBLE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8699265-764C-4EAA-81BB-54D2988C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54292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F3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A browser that</a:t>
            </a:r>
          </a:p>
          <a:p xmlns:a="http://schemas.openxmlformats.org/drawingml/2006/main">
            <a:pPr algn="l">
              <a:defRPr sz="4350" b="1">
                <a:solidFill>
                  <a:srgbClr val="173F3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does the errand</a:t>
            </a:r>
          </a:p>
          <a:p xmlns:a="http://schemas.openxmlformats.org/drawingml/2006/main">
            <a:pPr algn="l">
              <a:defRPr sz="4350" b="1">
                <a:solidFill>
                  <a:srgbClr val="173F3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for you.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6DC5846-CC6A-4A0D-82D1-9DD0D96B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514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Plain-language autonomous browsing for older adults — with caregiver visibility and hard safety stops.</a:t>
            </a:r>
          </a:p>
        </p:txBody>
      </p:sp>
      <p:sp>
        <p:nvSpPr>
          <p:cNvPr id="4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B781EEEB-168F-47DA-BA04-49EA484E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8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847"/>
                </a:solidFill>
                <a:latin typeface="Arial"/>
                <a:ea typeface="Arial"/>
                <a:cs typeface="Arial"/>
              </a:rPr>
              <a:t>Application overview · 2026</a:t>
            </a:r>
          </a:p>
        </p:txBody>
      </p:sp>
      <p:sp>
        <p:nvSpPr>
          <p:cNvPr id="5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276219F8-A01B-43E3-BD36-24D5D7C7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3436"/>
            </a:avLst>
          </a:prstGeom>
          <a:solidFill xmlns:a="http://schemas.openxmlformats.org/drawingml/2006/main">
            <a:srgbClr val="E7F0EB"/>
          </a:solidFill>
          <a:ln xmlns:a="http://schemas.openxmlformats.org/drawingml/2006/main" w="9525">
            <a:solidFill>
              <a:srgbClr val="C8D1CA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e621807834934"/>
          <a:srcRect xmlns:a="http://schemas.openxmlformats.org/drawingml/2006/main" l="22153" t="0" r="221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476250"/>
            <a:ext cx="5391150" cy="5448300"/>
          </a:xfrm>
          <a:prstGeom xmlns:a="http://schemas.openxmlformats.org/drawingml/2006/main" prst="roundRect">
            <a:avLst>
              <a:gd name="adj" fmla="val 3180"/>
            </a:avLst>
          </a:prstGeom>
        </p:spPr>
      </p:pic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06495645-0F62-40F9-8D56-EA017E46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01101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B316918-31BD-414A-854C-4F8FC905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Older adults should not need perfect recall — or a distant relative — to finish an online errand.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102DDD1-654B-4AA0-9FF4-B436EC56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847"/>
                </a:solidFill>
                <a:latin typeface="Arial"/>
                <a:ea typeface="Arial"/>
                <a:cs typeface="Arial"/>
              </a:rPr>
              <a:t>WHY IT EXISTS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DD0CE09-7BF2-45BF-98C9-72E7694C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5635B"/>
                </a:solidFill>
                <a:latin typeface="Arial"/>
                <a:ea typeface="Arial"/>
                <a:cs typeface="Arial"/>
              </a:rPr>
              <a:t>A DIFFERENT BROWSER</a:t>
            </a:r>
          </a:p>
        </p:txBody>
      </p:sp>
    </p:spTree>
    <p:extLst>
      <p:ext uri="{BB962C8B-B14F-4D97-AF65-F5344CB8AC3E}">
        <p14:creationId xmlns:p14="http://schemas.microsoft.com/office/powerpoint/2010/main" val="1549916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3">
            <a:extLst xmlns:a="http://schemas.openxmlformats.org/drawingml/2006/main">
              <a:ext uri="{FF2B5EF4-FFF2-40B4-BE49-F238E27FC236}">
                <a16:creationId xmlns:a16="http://schemas.microsoft.com/office/drawing/2014/main" id="{2C07F3DD-A635-4E66-8FF2-631D6752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7"/>
          </a:solidFill>
          <a:ln xmlns:a="http://schemas.openxmlformats.org/drawingml/2006/main" w="0">
            <a:solidFill>
              <a:srgbClr val="176847"/>
            </a:solidFill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9F7DEBC-B953-4B4B-ABB6-2D6C24FD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3850"/>
            <a:ext cx="11134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The participant starts with a goal — not setup.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463F2B1C-F6CB-4BA9-BC2E-0DF8C928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00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Three ready errands, a free-form request, and grounded recall — all behind passwordless entry.</a:t>
            </a:r>
          </a:p>
        </p:txBody>
      </p:sp>
      <p:sp>
        <p:nvSpPr>
          <p:cNvPr id="4" name="image-backing-3">
            <a:extLst xmlns:a="http://schemas.openxmlformats.org/drawingml/2006/main">
              <a:ext uri="{FF2B5EF4-FFF2-40B4-BE49-F238E27FC236}">
                <a16:creationId xmlns:a16="http://schemas.microsoft.com/office/drawing/2014/main" id="{3F884FC0-501F-46BC-B0A5-0D41DD21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4419600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E7F0EB"/>
          </a:solidFill>
          <a:ln xmlns:a="http://schemas.openxmlformats.org/drawingml/2006/main" w="9525">
            <a:solidFill>
              <a:srgbClr val="C8D1C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e344e9b6441b3"/>
          <a:srcRect xmlns:a="http://schemas.openxmlformats.org/drawingml/2006/main" l="0" t="14466" r="0" b="144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943100"/>
            <a:ext cx="10668000" cy="42672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E56F0ED9-8C2A-42E5-A251-E13B126E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64222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097D558-0E61-4BBB-9D59-2A833D38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CBF67B5-D98C-4ED9-9DDB-F67CA2FB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6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One request becomes a visible, narrated browser run.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93668" y="3373755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29881A0-CBF7-4632-B096-48CBC079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C362014-30B9-4A40-BB08-7F8CFE86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8DCFC3E-15B1-452A-A8A2-CA7F2B74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856202C-99D5-4CCA-8920-4994FBF5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47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191E3C6-17B0-4C43-9FE9-41863498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47"/>
                </a:solidFill>
                <a:latin typeface="Arial"/>
                <a:ea typeface="Arial"/>
                <a:cs typeface="Arial"/>
              </a:rPr>
              <a:t>WATCH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C8B7496-23D5-4B67-AF01-6E8B9EE5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847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C271284-C0B3-4A7B-B535-4D72D8D5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The agent works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It drives a real browser and narrates each action in plain language.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2026FDE-227F-46DA-AF91-902F954E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Say the errand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Choose a ready task or describe it in your own words.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2D548ED-CEA3-47AD-9F94-8A782C72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People keep control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Money, deletion, and passwords stop the run for a person.</a:t>
            </a:r>
          </a:p>
        </p:txBody>
      </p:sp>
    </p:spTree>
    <p:extLst>
      <p:ext uri="{BB962C8B-B14F-4D97-AF65-F5344CB8AC3E}">
        <p14:creationId xmlns:p14="http://schemas.microsoft.com/office/powerpoint/2010/main" val="285709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emo-accent-5">
            <a:extLst xmlns:a="http://schemas.openxmlformats.org/drawingml/2006/main">
              <a:ext uri="{FF2B5EF4-FFF2-40B4-BE49-F238E27FC236}">
                <a16:creationId xmlns:a16="http://schemas.microsoft.com/office/drawing/2014/main" id="{246476CC-A8DD-4CF1-8798-06434541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7"/>
          </a:solidFill>
          <a:ln xmlns:a="http://schemas.openxmlformats.org/drawingml/2006/main" w="0">
            <a:solidFill>
              <a:srgbClr val="176847"/>
            </a:solidFill>
            <a:prstDash val="solid"/>
          </a:ln>
        </p:spPr>
      </p:sp>
      <p:sp>
        <p:nvSpPr>
          <p:cNvPr id="2" name="demo-title-5">
            <a:extLst xmlns:a="http://schemas.openxmlformats.org/drawingml/2006/main">
              <a:ext uri="{FF2B5EF4-FFF2-40B4-BE49-F238E27FC236}">
                <a16:creationId xmlns:a16="http://schemas.microsoft.com/office/drawing/2014/main" id="{EA55EB4B-0B69-4B23-867E-52BBDF46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7650"/>
            <a:ext cx="11134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Demo: joining the shortest DMV queue.</a:t>
            </a:r>
          </a:p>
        </p:txBody>
      </p:sp>
      <p:sp>
        <p:nvSpPr>
          <p:cNvPr id="3" name="demo-subtitle-5">
            <a:extLst xmlns:a="http://schemas.openxmlformats.org/drawingml/2006/main">
              <a:ext uri="{FF2B5EF4-FFF2-40B4-BE49-F238E27FC236}">
                <a16:creationId xmlns:a16="http://schemas.microsoft.com/office/drawing/2014/main" id="{97230AF3-1B69-4B19-ADD0-010C4F3B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382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The work stays visible: completed steps, current action, and the safety boundary share one screen.</a:t>
            </a:r>
          </a:p>
        </p:txBody>
      </p:sp>
      <p:sp>
        <p:nvSpPr>
          <p:cNvPr id="4" name="demo-image-backing-5">
            <a:extLst xmlns:a="http://schemas.openxmlformats.org/drawingml/2006/main">
              <a:ext uri="{FF2B5EF4-FFF2-40B4-BE49-F238E27FC236}">
                <a16:creationId xmlns:a16="http://schemas.microsoft.com/office/drawing/2014/main" id="{A4BD656E-6A09-4520-9220-C352C2FD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314450"/>
            <a:ext cx="9391650" cy="5286375"/>
          </a:xfrm>
          <a:prstGeom xmlns:a="http://schemas.openxmlformats.org/drawingml/2006/main" prst="roundRect">
            <a:avLst>
              <a:gd name="adj" fmla="val 2883"/>
            </a:avLst>
          </a:prstGeom>
          <a:solidFill xmlns:a="http://schemas.openxmlformats.org/drawingml/2006/main">
            <a:srgbClr val="E7F0EB"/>
          </a:solidFill>
          <a:ln xmlns:a="http://schemas.openxmlformats.org/drawingml/2006/main" w="9525">
            <a:solidFill>
              <a:srgbClr val="C8D1C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a6d37a6834099"/>
          <a:stretch xmlns:a="http://schemas.openxmlformats.org/drawingml/2006/main"/>
        </p:blipFill>
        <p:spPr>
          <a:xfrm xmlns:a="http://schemas.openxmlformats.org/drawingml/2006/main">
            <a:off x="1476375" y="1392436"/>
            <a:ext cx="9239250" cy="5197078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450D9D74-0FDF-4C91-9DE9-22A120D6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7114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emo-accent-6">
            <a:extLst xmlns:a="http://schemas.openxmlformats.org/drawingml/2006/main">
              <a:ext uri="{FF2B5EF4-FFF2-40B4-BE49-F238E27FC236}">
                <a16:creationId xmlns:a16="http://schemas.microsoft.com/office/drawing/2014/main" id="{48F3186E-0025-44AA-BD17-10CBC868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7"/>
          </a:solidFill>
          <a:ln xmlns:a="http://schemas.openxmlformats.org/drawingml/2006/main" w="0">
            <a:solidFill>
              <a:srgbClr val="176847"/>
            </a:solidFill>
            <a:prstDash val="solid"/>
          </a:ln>
        </p:spPr>
      </p:sp>
      <p:sp>
        <p:nvSpPr>
          <p:cNvPr id="2" name="demo-title-6">
            <a:extLst xmlns:a="http://schemas.openxmlformats.org/drawingml/2006/main">
              <a:ext uri="{FF2B5EF4-FFF2-40B4-BE49-F238E27FC236}">
                <a16:creationId xmlns:a16="http://schemas.microsoft.com/office/drawing/2014/main" id="{C63578ED-31EE-471A-871A-AAF4C21B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7650"/>
            <a:ext cx="11134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Demo: reviewing the cart before checkout.</a:t>
            </a:r>
          </a:p>
        </p:txBody>
      </p:sp>
      <p:sp>
        <p:nvSpPr>
          <p:cNvPr id="3" name="demo-subtitle-6">
            <a:extLst xmlns:a="http://schemas.openxmlformats.org/drawingml/2006/main">
              <a:ext uri="{FF2B5EF4-FFF2-40B4-BE49-F238E27FC236}">
                <a16:creationId xmlns:a16="http://schemas.microsoft.com/office/drawing/2014/main" id="{35E0E3E3-B09F-4716-AF24-DBE44249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382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The agent completes reversible work, then leaves the purchase decision to the person.</a:t>
            </a:r>
          </a:p>
        </p:txBody>
      </p:sp>
      <p:sp>
        <p:nvSpPr>
          <p:cNvPr id="4" name="demo-image-backing-6">
            <a:extLst xmlns:a="http://schemas.openxmlformats.org/drawingml/2006/main">
              <a:ext uri="{FF2B5EF4-FFF2-40B4-BE49-F238E27FC236}">
                <a16:creationId xmlns:a16="http://schemas.microsoft.com/office/drawing/2014/main" id="{167E7200-8C46-40E9-B9FA-1882AF24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314450"/>
            <a:ext cx="9391650" cy="5286375"/>
          </a:xfrm>
          <a:prstGeom xmlns:a="http://schemas.openxmlformats.org/drawingml/2006/main" prst="roundRect">
            <a:avLst>
              <a:gd name="adj" fmla="val 2883"/>
            </a:avLst>
          </a:prstGeom>
          <a:solidFill xmlns:a="http://schemas.openxmlformats.org/drawingml/2006/main">
            <a:srgbClr val="E7F0EB"/>
          </a:solidFill>
          <a:ln xmlns:a="http://schemas.openxmlformats.org/drawingml/2006/main" w="9525">
            <a:solidFill>
              <a:srgbClr val="C8D1C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5e5f69b8647a5"/>
          <a:stretch xmlns:a="http://schemas.openxmlformats.org/drawingml/2006/main"/>
        </p:blipFill>
        <p:spPr>
          <a:xfrm xmlns:a="http://schemas.openxmlformats.org/drawingml/2006/main">
            <a:off x="1476375" y="1392436"/>
            <a:ext cx="9239250" cy="5197078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3300BCCF-8ED8-45D2-9306-E7892263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0375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emo-accent-7">
            <a:extLst xmlns:a="http://schemas.openxmlformats.org/drawingml/2006/main">
              <a:ext uri="{FF2B5EF4-FFF2-40B4-BE49-F238E27FC236}">
                <a16:creationId xmlns:a16="http://schemas.microsoft.com/office/drawing/2014/main" id="{44EA167C-B123-4062-92D1-4B25B666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7"/>
          </a:solidFill>
          <a:ln xmlns:a="http://schemas.openxmlformats.org/drawingml/2006/main" w="0">
            <a:solidFill>
              <a:srgbClr val="176847"/>
            </a:solidFill>
            <a:prstDash val="solid"/>
          </a:ln>
        </p:spPr>
      </p:sp>
      <p:sp>
        <p:nvSpPr>
          <p:cNvPr id="2" name="demo-title-7">
            <a:extLst xmlns:a="http://schemas.openxmlformats.org/drawingml/2006/main">
              <a:ext uri="{FF2B5EF4-FFF2-40B4-BE49-F238E27FC236}">
                <a16:creationId xmlns:a16="http://schemas.microsoft.com/office/drawing/2014/main" id="{AF432B7B-5300-4273-A277-21554C44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7650"/>
            <a:ext cx="11134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Demo: holding the next practical haircut time.</a:t>
            </a:r>
          </a:p>
        </p:txBody>
      </p:sp>
      <p:sp>
        <p:nvSpPr>
          <p:cNvPr id="3" name="demo-subtitle-7">
            <a:extLst xmlns:a="http://schemas.openxmlformats.org/drawingml/2006/main">
              <a:ext uri="{FF2B5EF4-FFF2-40B4-BE49-F238E27FC236}">
                <a16:creationId xmlns:a16="http://schemas.microsoft.com/office/drawing/2014/main" id="{9E2B37DA-9C2B-4113-944D-7589F926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382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Plain-language narration makes the run understandable without exposing browser internals.</a:t>
            </a:r>
          </a:p>
        </p:txBody>
      </p:sp>
      <p:sp>
        <p:nvSpPr>
          <p:cNvPr id="4" name="demo-image-backing-7">
            <a:extLst xmlns:a="http://schemas.openxmlformats.org/drawingml/2006/main">
              <a:ext uri="{FF2B5EF4-FFF2-40B4-BE49-F238E27FC236}">
                <a16:creationId xmlns:a16="http://schemas.microsoft.com/office/drawing/2014/main" id="{78E98628-1941-4718-985E-F621C200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314450"/>
            <a:ext cx="9391650" cy="5286375"/>
          </a:xfrm>
          <a:prstGeom xmlns:a="http://schemas.openxmlformats.org/drawingml/2006/main" prst="roundRect">
            <a:avLst>
              <a:gd name="adj" fmla="val 2883"/>
            </a:avLst>
          </a:prstGeom>
          <a:solidFill xmlns:a="http://schemas.openxmlformats.org/drawingml/2006/main">
            <a:srgbClr val="E7F0EB"/>
          </a:solidFill>
          <a:ln xmlns:a="http://schemas.openxmlformats.org/drawingml/2006/main" w="9525">
            <a:solidFill>
              <a:srgbClr val="C8D1C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0b24ce9324c38"/>
          <a:stretch xmlns:a="http://schemas.openxmlformats.org/drawingml/2006/main"/>
        </p:blipFill>
        <p:spPr>
          <a:xfrm xmlns:a="http://schemas.openxmlformats.org/drawingml/2006/main">
            <a:off x="1476375" y="1392436"/>
            <a:ext cx="9239250" cy="5197078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4B6A98FD-C000-47D1-8F8C-6F039978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51709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9C3B648-2AF5-4DAD-9332-CA64CA73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819653B-2609-4287-A68E-AA20213F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Autonomy stops exactly where consequences begin.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1F55A65-815E-457D-B297-C8DB9AA7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Reversible work continues without constant interruptions.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517DAEC-0325-47EE-A8A2-5DC87DE7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Money pauses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6A3BCEB1-5D37-449A-ACF8-DC34F43F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38C8482E-082C-4498-B225-76E49DC4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The agent may search, navigate, fill forms, add to a cart, join a queue, or hold an appointment.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It does not hide uncertainty: risky actions pause and failures remain visible.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A6CC888-E26D-4E95-8A58-ACCF6455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Deletion pauses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372A003-8311-4457-8628-F9040ABB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E8979C63-869A-4B79-BB55-2B3F4DAF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Passwords stay private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62412A59-77D8-410A-98F5-F2124B32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1788D095-5CC7-4D83-9B86-F5E7B03C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Every action is visible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22268015-DCE0-45A9-B76D-5D60513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A4CCC8A4-9D2E-4388-A3B0-62F3AE6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Scam signals escalate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8D9EEEC0-AEAB-4A40-84F1-00E908CB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497176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9">
            <a:extLst xmlns:a="http://schemas.openxmlformats.org/drawingml/2006/main">
              <a:ext uri="{FF2B5EF4-FFF2-40B4-BE49-F238E27FC236}">
                <a16:creationId xmlns:a16="http://schemas.microsoft.com/office/drawing/2014/main" id="{699D3204-2C80-4A50-9E76-9B0D92C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7"/>
          </a:solidFill>
          <a:ln xmlns:a="http://schemas.openxmlformats.org/drawingml/2006/main" w="0">
            <a:solidFill>
              <a:srgbClr val="176847"/>
            </a:solidFill>
            <a:prstDash val="solid"/>
          </a:ln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C48B963-13CF-4420-82E8-6B5BB3BC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3850"/>
            <a:ext cx="11134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1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Caregivers see evidence — not remote controls.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0F187983-3683-4DA9-AA4C-E752EB1A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00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Run history, cost, routines, notes, and cloud readiness — without exposing provider keys.</a:t>
            </a:r>
          </a:p>
        </p:txBody>
      </p:sp>
      <p:sp>
        <p:nvSpPr>
          <p:cNvPr id="4" name="image-backing-9">
            <a:extLst xmlns:a="http://schemas.openxmlformats.org/drawingml/2006/main">
              <a:ext uri="{FF2B5EF4-FFF2-40B4-BE49-F238E27FC236}">
                <a16:creationId xmlns:a16="http://schemas.microsoft.com/office/drawing/2014/main" id="{548214E5-2D80-4B7C-8D36-851C3495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4419600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E7F0EB"/>
          </a:solidFill>
          <a:ln xmlns:a="http://schemas.openxmlformats.org/drawingml/2006/main" w="9525">
            <a:solidFill>
              <a:srgbClr val="C8D1C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6d7f1247247c3"/>
          <a:srcRect xmlns:a="http://schemas.openxmlformats.org/drawingml/2006/main" l="0" t="14466" r="0" b="144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943100"/>
            <a:ext cx="10668000" cy="42672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BAA1B40C-B80D-42E3-BF01-9B20A54B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63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612971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B3DDF04-FF84-45D9-BCA4-9B9DBD99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1BA1E77-FF17-42F0-82A2-55DC77DC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Memory turns completed errands into dependable context.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53B6F0E-B6EF-4D10-89F5-DCBC3BDC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Grounded recall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Answers come from completed runs. If the record is missing, the app says so.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85127B6-AD30-4BD3-8C42-C2C3962C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Routine timing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Repeated task starts can reveal daily, weekly, or monthly patterns.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751CFD7-D608-4421-903E-11B1435D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Proactive, not pushy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Suggestions are dismissible, expire on their own, and avoid repeated nagging.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49095FC-900D-492D-89FF-D8A1C8C4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Permission first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Accepting a reminder is the boundary that permits a new run to begin.</a:t>
            </a:r>
          </a:p>
        </p:txBody>
      </p:sp>
    </p:spTree>
    <p:extLst>
      <p:ext uri="{BB962C8B-B14F-4D97-AF65-F5344CB8AC3E}">
        <p14:creationId xmlns:p14="http://schemas.microsoft.com/office/powerpoint/2010/main" val="9818417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0699522-0326-4988-88E8-6500A3D4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A8CA0EE-072A-443D-BE5F-84DDB360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201B"/>
                </a:solidFill>
                <a:latin typeface="Arial"/>
                <a:ea typeface="Arial"/>
                <a:cs typeface="Arial"/>
              </a:rPr>
              <a:t>The cloud stack separates execution, memory, and evidence.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9045B94-8AF8-4DB3-91B4-3E691F56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Browserbase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Managed Chrome execution with a participant-visible Live View and server-side CDP control.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BAAF289-7E4A-4BD5-A15D-ED616B1A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Snowflake + Cortex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Planning for cold runs, synchronized telemetry, and cost evidence from actual usage.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DFEDE5D2-0514-44FD-B4C3-D604C34F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EverOS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635B"/>
                </a:solidFill>
                <a:latin typeface="Arial"/>
                <a:ea typeface="Arial"/>
                <a:cs typeface="Arial"/>
              </a:rPr>
              <a:t>Durable episodes, readable routines, and user-owned context for recall and suggestions.</a:t>
            </a:r>
          </a:p>
        </p:txBody>
      </p:sp>
    </p:spTree>
    <p:extLst>
      <p:ext uri="{BB962C8B-B14F-4D97-AF65-F5344CB8AC3E}">
        <p14:creationId xmlns:p14="http://schemas.microsoft.com/office/powerpoint/2010/main" val="1091494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80C756E-831C-49AD-A437-71D1C8DA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73F32"/>
                </a:solidFill>
                <a:latin typeface="Arial"/>
                <a:ea typeface="Arial"/>
                <a:cs typeface="Arial"/>
              </a:rPr>
              <a:t>One request.
A visible run.
Human control.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97AADBC-EC43-46E4-9BA6-0482A4E0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No participant login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Caregiver sees the record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01B"/>
                </a:solidFill>
                <a:latin typeface="Arial"/>
                <a:ea typeface="Arial"/>
                <a:cs typeface="Arial"/>
              </a:rPr>
              <a:t>Safety pauses stay human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3459CCC-175C-426A-920E-626EFD0D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847"/>
                </a:solidFill>
                <a:latin typeface="Arial"/>
                <a:ea typeface="Arial"/>
                <a:cs typeface="Arial"/>
              </a:rPr>
              <a:t>THE IDEA</a:t>
            </a:r>
          </a:p>
        </p:txBody>
      </p:sp>
    </p:spTree>
    <p:extLst>
      <p:ext uri="{BB962C8B-B14F-4D97-AF65-F5344CB8AC3E}">
        <p14:creationId xmlns:p14="http://schemas.microsoft.com/office/powerpoint/2010/main" val="1163941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2026-08-07T22:25:58.9570000Z</dcterms:created>
  <dcterms:modified xsi:type="dcterms:W3CDTF">2026-08-07T22:25:58.9570000Z</dcterms:modified>
</coreProperties>
</file>